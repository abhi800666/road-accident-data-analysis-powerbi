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80" r:id="rId9"/>
    <p:sldId id="576"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0" d="100"/>
          <a:sy n="80" d="100"/>
        </p:scale>
        <p:origin x="76" y="38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12-03-2026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bhi800666/Road-Accident-Data-Analysis-PowerBI"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5856" y="1517983"/>
            <a:ext cx="4746772" cy="2506766"/>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kern="1200" dirty="0">
                <a:latin typeface="+mj-lt"/>
                <a:ea typeface="+mj-ea"/>
                <a:cs typeface="+mj-cs"/>
              </a:rPr>
              <a:t>CAPSTONE </a:t>
            </a:r>
            <a:r>
              <a:rPr lang="en-US" sz="3600" b="1" dirty="0"/>
              <a:t>PROJECT</a:t>
            </a:r>
            <a:endParaRPr lang="en-US" b="1" dirty="0">
              <a:latin typeface="Aptos"/>
            </a:endParaRPr>
          </a:p>
          <a:p>
            <a:pPr algn="l"/>
            <a:br>
              <a:rPr lang="en-US" sz="5100" b="1" dirty="0"/>
            </a:br>
            <a:r>
              <a:rPr lang="en-US" sz="3200" b="1" cap="all" dirty="0">
                <a:latin typeface="Aptos"/>
              </a:rPr>
              <a:t>Road Accident Data Analysis using Power BI</a:t>
            </a:r>
            <a:endParaRPr lang="en-US" sz="32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201393" cy="262704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Abhishek Kumar</a:t>
            </a:r>
          </a:p>
          <a:p>
            <a:pPr algn="l">
              <a:spcAft>
                <a:spcPts val="600"/>
              </a:spcAft>
            </a:pPr>
            <a:r>
              <a:rPr lang="en-US" sz="1600" b="1" cap="all" dirty="0"/>
              <a:t>College Name: Sir Chhotu Ram Institute of Engineering and Technology, Meerut</a:t>
            </a:r>
          </a:p>
          <a:p>
            <a:pPr algn="l">
              <a:spcAft>
                <a:spcPts val="600"/>
              </a:spcAft>
            </a:pPr>
            <a:r>
              <a:rPr lang="en-US" sz="1600" b="1" cap="all" dirty="0"/>
              <a:t>Department: MCA</a:t>
            </a:r>
          </a:p>
          <a:p>
            <a:pPr algn="l">
              <a:spcAft>
                <a:spcPts val="600"/>
              </a:spcAft>
            </a:pPr>
            <a:r>
              <a:rPr lang="en-US" sz="1600" b="1" cap="all" dirty="0"/>
              <a:t>Email ID: ak14972@gmail.com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409990" y="1235434"/>
            <a:ext cx="4590784" cy="439167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000" dirty="0"/>
              <a:t>Road accidents are a major concern in many countries and cities. A large number of accidents occur every year due to factors such as over-speeding, poor road conditions, and traffic violations.</a:t>
            </a:r>
          </a:p>
          <a:p>
            <a:r>
              <a:rPr lang="en-US" sz="2000" dirty="0"/>
              <a:t>Analyzing accident data manually is difficult because the dataset contains a large amount of information including location, vehicle type, accident severity, and time.</a:t>
            </a:r>
          </a:p>
          <a:p>
            <a:r>
              <a:rPr lang="en-US" sz="2000" dirty="0"/>
              <a:t>Therefore, there is a need for a system that can analyze road accident data and present meaningful insights to help authorities improve road safety and reduce accident rates.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5268772"/>
          </a:xfrm>
        </p:spPr>
        <p:txBody>
          <a:bodyPr vert="horz" lIns="91440" tIns="45720" rIns="91440" bIns="45720" rtlCol="0" anchor="t">
            <a:noAutofit/>
          </a:bodyPr>
          <a:lstStyle/>
          <a:p>
            <a:r>
              <a:rPr lang="en-US" sz="1800" dirty="0"/>
              <a:t>The proposed system focuses on analyzing road accident data using Power BI and presenting insights through interactive dashboards.</a:t>
            </a:r>
          </a:p>
          <a:p>
            <a:r>
              <a:rPr lang="en-US" sz="1800" b="1" dirty="0"/>
              <a:t>The system includes the following steps:</a:t>
            </a:r>
            <a:endParaRPr lang="en-US" sz="1800" dirty="0"/>
          </a:p>
          <a:p>
            <a:r>
              <a:rPr lang="en-US" sz="1800" b="1" dirty="0"/>
              <a:t>Data Collection</a:t>
            </a:r>
          </a:p>
          <a:p>
            <a:pPr lvl="1"/>
            <a:r>
              <a:rPr lang="en-US" sz="1800" dirty="0"/>
              <a:t>Collect accident datasets containing details such as accident date, location, vehicle type, and accident severity.</a:t>
            </a:r>
          </a:p>
          <a:p>
            <a:r>
              <a:rPr lang="en-US" sz="1800" b="1" dirty="0"/>
              <a:t>Data Cleaning &amp; Preprocessing</a:t>
            </a:r>
          </a:p>
          <a:p>
            <a:pPr lvl="1"/>
            <a:r>
              <a:rPr lang="en-US" sz="1800" dirty="0"/>
              <a:t>Remove missing values and prepare the dataset for analysis using Power Query.</a:t>
            </a:r>
          </a:p>
          <a:p>
            <a:r>
              <a:rPr lang="en-US" sz="1800" b="1" dirty="0"/>
              <a:t>Data Analysis</a:t>
            </a:r>
          </a:p>
          <a:p>
            <a:pPr lvl="1"/>
            <a:r>
              <a:rPr lang="en-US" sz="1800" dirty="0"/>
              <a:t>Analyze accident trends such as accident frequency by location, vehicle type, and time.</a:t>
            </a:r>
          </a:p>
          <a:p>
            <a:r>
              <a:rPr lang="en-US" sz="1800" b="1" dirty="0"/>
              <a:t>Data Visualization</a:t>
            </a:r>
          </a:p>
          <a:p>
            <a:pPr lvl="1"/>
            <a:r>
              <a:rPr lang="en-US" sz="1800" dirty="0"/>
              <a:t>Create interactive charts and dashboards using Power BI.</a:t>
            </a:r>
          </a:p>
          <a:p>
            <a:r>
              <a:rPr lang="en-US" sz="1800" b="1" dirty="0"/>
              <a:t>Decision Support</a:t>
            </a:r>
          </a:p>
          <a:p>
            <a:pPr lvl="1"/>
            <a:r>
              <a:rPr lang="en-US" sz="1800" dirty="0"/>
              <a:t>The dashboard will help authorities identify accident hotspots and take preventive measures.</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Development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07781"/>
            <a:ext cx="10515600" cy="5190371"/>
          </a:xfrm>
        </p:spPr>
        <p:txBody>
          <a:bodyPr vert="horz" lIns="91440" tIns="45720" rIns="91440" bIns="45720" rtlCol="0">
            <a:normAutofit/>
          </a:bodyPr>
          <a:lstStyle/>
          <a:p>
            <a:r>
              <a:rPr lang="en-IN" sz="2400" b="1" dirty="0"/>
              <a:t>System Requirements</a:t>
            </a:r>
            <a:endParaRPr lang="en-IN" sz="2400" dirty="0"/>
          </a:p>
          <a:p>
            <a:pPr marL="457200" lvl="1" indent="0">
              <a:buNone/>
            </a:pPr>
            <a:r>
              <a:rPr lang="en-IN" sz="1800" dirty="0"/>
              <a:t>• Computer with Windows OS</a:t>
            </a:r>
            <a:br>
              <a:rPr lang="en-IN" sz="1800" dirty="0"/>
            </a:br>
            <a:r>
              <a:rPr lang="en-IN" sz="1800" dirty="0"/>
              <a:t>• Microsoft Power BI Desktop</a:t>
            </a:r>
            <a:br>
              <a:rPr lang="en-IN" sz="1800" dirty="0"/>
            </a:br>
            <a:r>
              <a:rPr lang="en-IN" sz="1800" dirty="0"/>
              <a:t>• Road Accident Dataset</a:t>
            </a:r>
            <a:br>
              <a:rPr lang="en-IN" sz="1800" dirty="0"/>
            </a:br>
            <a:r>
              <a:rPr lang="en-IN" sz="1800" dirty="0"/>
              <a:t>• Internet connection</a:t>
            </a:r>
          </a:p>
          <a:p>
            <a:pPr marL="457200" lvl="1" indent="0">
              <a:buNone/>
            </a:pPr>
            <a:endParaRPr lang="en-IN" sz="1800" dirty="0"/>
          </a:p>
          <a:p>
            <a:r>
              <a:rPr lang="en-IN" sz="2400" b="1" dirty="0"/>
              <a:t>Tools &amp; Technologies Used</a:t>
            </a:r>
            <a:endParaRPr lang="en-IN" sz="2400" dirty="0"/>
          </a:p>
          <a:p>
            <a:pPr marL="457200" lvl="1" indent="0">
              <a:buNone/>
            </a:pPr>
            <a:r>
              <a:rPr lang="en-IN" sz="1800" dirty="0"/>
              <a:t>• Power BI</a:t>
            </a:r>
            <a:br>
              <a:rPr lang="en-IN" sz="1800" dirty="0"/>
            </a:br>
            <a:r>
              <a:rPr lang="en-IN" sz="1800" dirty="0"/>
              <a:t>• Data Analytics</a:t>
            </a:r>
            <a:br>
              <a:rPr lang="en-IN" sz="1800" dirty="0"/>
            </a:br>
            <a:r>
              <a:rPr lang="en-IN" sz="1800" dirty="0"/>
              <a:t>• Data Visualization</a:t>
            </a:r>
            <a:br>
              <a:rPr lang="en-IN" sz="1800" dirty="0"/>
            </a:br>
            <a:r>
              <a:rPr lang="en-IN" sz="1800" dirty="0"/>
              <a:t>• Excel / CSV dataset</a:t>
            </a:r>
          </a:p>
          <a:p>
            <a:pPr marL="457200" lvl="1" indent="0">
              <a:buNone/>
            </a:pPr>
            <a:endParaRPr lang="en-IN" sz="1800" dirty="0"/>
          </a:p>
          <a:p>
            <a:r>
              <a:rPr lang="en-IN" sz="2400" b="1" dirty="0"/>
              <a:t>Power BI Features Used</a:t>
            </a:r>
            <a:endParaRPr lang="en-IN" sz="2400" dirty="0"/>
          </a:p>
          <a:p>
            <a:pPr marL="457200" lvl="1" indent="0">
              <a:buNone/>
            </a:pPr>
            <a:r>
              <a:rPr lang="en-IN" sz="1800" dirty="0"/>
              <a:t>• Power Query for data cleaning</a:t>
            </a:r>
            <a:br>
              <a:rPr lang="en-IN" sz="1800" dirty="0"/>
            </a:br>
            <a:r>
              <a:rPr lang="en-IN" sz="1800" dirty="0"/>
              <a:t>• DAX for calculated measures</a:t>
            </a:r>
            <a:br>
              <a:rPr lang="en-IN" sz="1800" dirty="0"/>
            </a:br>
            <a:r>
              <a:rPr lang="en-IN" sz="1800" dirty="0"/>
              <a:t>• Interactive dashboards and filters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699" y="1572195"/>
            <a:ext cx="11567873" cy="4999643"/>
          </a:xfrm>
        </p:spPr>
        <p:txBody>
          <a:bodyPr vert="horz" lIns="91440" tIns="45720" rIns="91440" bIns="45720" rtlCol="0">
            <a:normAutofit/>
          </a:bodyPr>
          <a:lstStyle/>
          <a:p>
            <a:pPr>
              <a:buNone/>
            </a:pPr>
            <a:r>
              <a:rPr lang="en-US" sz="1100" dirty="0"/>
              <a:t>The project uses a data analytics approach in Power BI to analyze road accident data and generate meaningful insights through visual dashboards.</a:t>
            </a:r>
          </a:p>
          <a:p>
            <a:pPr>
              <a:buNone/>
            </a:pPr>
            <a:r>
              <a:rPr lang="en-US" sz="1100" b="1" dirty="0"/>
              <a:t>1. Data Input</a:t>
            </a:r>
            <a:endParaRPr lang="en-US" sz="1100" dirty="0"/>
          </a:p>
          <a:p>
            <a:pPr>
              <a:buNone/>
            </a:pPr>
            <a:r>
              <a:rPr lang="en-US" sz="1100" dirty="0"/>
              <a:t>The system takes a road accident dataset as input containing information such as:</a:t>
            </a:r>
          </a:p>
          <a:p>
            <a:pPr>
              <a:buNone/>
            </a:pPr>
            <a:r>
              <a:rPr lang="en-US" sz="1100" dirty="0"/>
              <a:t>	• Accident Date and Time</a:t>
            </a:r>
            <a:br>
              <a:rPr lang="en-US" sz="1100" dirty="0"/>
            </a:br>
            <a:r>
              <a:rPr lang="en-US" sz="1100" dirty="0"/>
              <a:t>• Location of Accident</a:t>
            </a:r>
            <a:br>
              <a:rPr lang="en-US" sz="1100" dirty="0"/>
            </a:br>
            <a:r>
              <a:rPr lang="en-US" sz="1100" dirty="0"/>
              <a:t>• Vehicle Type</a:t>
            </a:r>
            <a:br>
              <a:rPr lang="en-US" sz="1100" dirty="0"/>
            </a:br>
            <a:r>
              <a:rPr lang="en-US" sz="1100" dirty="0"/>
              <a:t>• Number of Casualties</a:t>
            </a:r>
            <a:br>
              <a:rPr lang="en-US" sz="1100" dirty="0"/>
            </a:br>
            <a:r>
              <a:rPr lang="en-US" sz="1100" dirty="0"/>
              <a:t>• Accident Severity</a:t>
            </a:r>
          </a:p>
          <a:p>
            <a:pPr>
              <a:buNone/>
            </a:pPr>
            <a:r>
              <a:rPr lang="en-US" sz="1100" b="1" dirty="0"/>
              <a:t>2. Data Processing</a:t>
            </a:r>
            <a:endParaRPr lang="en-US" sz="1100" dirty="0"/>
          </a:p>
          <a:p>
            <a:pPr>
              <a:buNone/>
            </a:pPr>
            <a:r>
              <a:rPr lang="en-US" sz="1100" dirty="0"/>
              <a:t>The dataset is processed using Power BI tools:</a:t>
            </a:r>
          </a:p>
          <a:p>
            <a:pPr>
              <a:buNone/>
            </a:pPr>
            <a:r>
              <a:rPr lang="en-US" sz="1100" dirty="0"/>
              <a:t>	• Data cleaning using </a:t>
            </a:r>
            <a:r>
              <a:rPr lang="en-US" sz="1100" b="1" dirty="0"/>
              <a:t>Power Query</a:t>
            </a:r>
            <a:br>
              <a:rPr lang="en-US" sz="1100" dirty="0"/>
            </a:br>
            <a:r>
              <a:rPr lang="en-US" sz="1100" dirty="0"/>
              <a:t>• Removing missing and inconsistent data</a:t>
            </a:r>
            <a:br>
              <a:rPr lang="en-US" sz="1100" dirty="0"/>
            </a:br>
            <a:r>
              <a:rPr lang="en-US" sz="1100" dirty="0"/>
              <a:t>• Creating calculated columns and measures using </a:t>
            </a:r>
            <a:r>
              <a:rPr lang="en-US" sz="1100" b="1" dirty="0"/>
              <a:t>DAX</a:t>
            </a:r>
            <a:br>
              <a:rPr lang="en-US" sz="1100" dirty="0"/>
            </a:br>
            <a:r>
              <a:rPr lang="en-US" sz="1100" dirty="0"/>
              <a:t>• Structuring the data for analysis</a:t>
            </a:r>
          </a:p>
          <a:p>
            <a:pPr>
              <a:buNone/>
            </a:pPr>
            <a:r>
              <a:rPr lang="en-US" sz="1100" b="1" dirty="0"/>
              <a:t>3. Data Visualization</a:t>
            </a:r>
            <a:endParaRPr lang="en-US" sz="1100" dirty="0"/>
          </a:p>
          <a:p>
            <a:pPr>
              <a:buNone/>
            </a:pPr>
            <a:r>
              <a:rPr lang="en-US" sz="1100" dirty="0"/>
              <a:t>Different visualizations are created to analyze accident trends:</a:t>
            </a:r>
          </a:p>
          <a:p>
            <a:pPr>
              <a:buNone/>
            </a:pPr>
            <a:r>
              <a:rPr lang="en-US" sz="1100" dirty="0"/>
              <a:t>	• Bar charts for accident distribution</a:t>
            </a:r>
            <a:br>
              <a:rPr lang="en-US" sz="1100" dirty="0"/>
            </a:br>
            <a:r>
              <a:rPr lang="en-US" sz="1100" dirty="0"/>
              <a:t>• Pie charts for severity analysis</a:t>
            </a:r>
            <a:br>
              <a:rPr lang="en-US" sz="1100" dirty="0"/>
            </a:br>
            <a:r>
              <a:rPr lang="en-US" sz="1100" dirty="0"/>
              <a:t>• Line charts for accident trends over time</a:t>
            </a:r>
            <a:br>
              <a:rPr lang="en-US" sz="1100" dirty="0"/>
            </a:br>
            <a:r>
              <a:rPr lang="en-US" sz="1100" dirty="0"/>
              <a:t>• Slicers and filters for interactive analysis</a:t>
            </a:r>
          </a:p>
          <a:p>
            <a:pPr>
              <a:buNone/>
            </a:pPr>
            <a:r>
              <a:rPr lang="en-US" sz="1100" b="1" dirty="0"/>
              <a:t>4. Deployment</a:t>
            </a:r>
            <a:endParaRPr lang="en-US" sz="1100" dirty="0"/>
          </a:p>
          <a:p>
            <a:pPr>
              <a:buNone/>
            </a:pPr>
            <a:r>
              <a:rPr lang="en-US" sz="1100" dirty="0"/>
              <a:t>The final dashboard is deployed in </a:t>
            </a:r>
            <a:r>
              <a:rPr lang="en-US" sz="1100" b="1" dirty="0"/>
              <a:t>Power BI Desktop</a:t>
            </a:r>
            <a:r>
              <a:rPr lang="en-US" sz="1100" dirty="0"/>
              <a:t> and can be published to </a:t>
            </a:r>
            <a:r>
              <a:rPr lang="en-US" sz="1100" b="1" dirty="0"/>
              <a:t>Power BI Service</a:t>
            </a:r>
            <a:r>
              <a:rPr lang="en-US" sz="1100" dirty="0"/>
              <a:t> to share insights and monitor accident data in real time.</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FD3D4F-1850-28DF-11E7-B58B8469A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82BB9-1C68-0D6A-3836-430983983FC8}"/>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11" name="Content Placeholder 10">
            <a:extLst>
              <a:ext uri="{FF2B5EF4-FFF2-40B4-BE49-F238E27FC236}">
                <a16:creationId xmlns:a16="http://schemas.microsoft.com/office/drawing/2014/main" id="{45D12CF2-58A8-ED1F-021D-8B27B61B22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13" name="Picture 12">
            <a:extLst>
              <a:ext uri="{FF2B5EF4-FFF2-40B4-BE49-F238E27FC236}">
                <a16:creationId xmlns:a16="http://schemas.microsoft.com/office/drawing/2014/main" id="{2A37B236-54EF-1988-62D4-D1858D2F1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6617"/>
            <a:ext cx="6230319" cy="4812224"/>
          </a:xfrm>
          <a:prstGeom prst="rect">
            <a:avLst/>
          </a:prstGeom>
        </p:spPr>
      </p:pic>
      <p:pic>
        <p:nvPicPr>
          <p:cNvPr id="4" name="Picture 3">
            <a:extLst>
              <a:ext uri="{FF2B5EF4-FFF2-40B4-BE49-F238E27FC236}">
                <a16:creationId xmlns:a16="http://schemas.microsoft.com/office/drawing/2014/main" id="{AB643058-5E6F-7EF9-C51F-D37E1D34F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319" y="1216618"/>
            <a:ext cx="5842621" cy="4812224"/>
          </a:xfrm>
          <a:prstGeom prst="rect">
            <a:avLst/>
          </a:prstGeom>
        </p:spPr>
      </p:pic>
    </p:spTree>
    <p:extLst>
      <p:ext uri="{BB962C8B-B14F-4D97-AF65-F5344CB8AC3E}">
        <p14:creationId xmlns:p14="http://schemas.microsoft.com/office/powerpoint/2010/main" val="2240308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11" name="Content Placeholder 10">
            <a:extLst>
              <a:ext uri="{FF2B5EF4-FFF2-40B4-BE49-F238E27FC236}">
                <a16:creationId xmlns:a16="http://schemas.microsoft.com/office/drawing/2014/main" id="{68DD9B80-767C-52BA-16C9-DB9E05ABB4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15" name="Picture 14">
            <a:extLst>
              <a:ext uri="{FF2B5EF4-FFF2-40B4-BE49-F238E27FC236}">
                <a16:creationId xmlns:a16="http://schemas.microsoft.com/office/drawing/2014/main" id="{68FA927E-E7F9-A645-953B-40DBB58900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29355"/>
            <a:ext cx="6331058" cy="5079933"/>
          </a:xfrm>
          <a:prstGeom prst="rect">
            <a:avLst/>
          </a:prstGeom>
        </p:spPr>
      </p:pic>
      <p:pic>
        <p:nvPicPr>
          <p:cNvPr id="17" name="Picture 16">
            <a:extLst>
              <a:ext uri="{FF2B5EF4-FFF2-40B4-BE49-F238E27FC236}">
                <a16:creationId xmlns:a16="http://schemas.microsoft.com/office/drawing/2014/main" id="{947F72FD-3946-F224-BF2D-7E70B4BAE6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1059" y="1429354"/>
            <a:ext cx="6006261" cy="5079933"/>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BE8D96-3C50-734F-54CA-3E6EEFABD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825E8-1C5B-2CC0-524C-B9598CB7D5F9}"/>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11" name="Content Placeholder 10">
            <a:extLst>
              <a:ext uri="{FF2B5EF4-FFF2-40B4-BE49-F238E27FC236}">
                <a16:creationId xmlns:a16="http://schemas.microsoft.com/office/drawing/2014/main" id="{F51FC622-33A0-6248-6BE1-2D35F21AD3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sp>
        <p:nvSpPr>
          <p:cNvPr id="3" name="TextBox 2">
            <a:extLst>
              <a:ext uri="{FF2B5EF4-FFF2-40B4-BE49-F238E27FC236}">
                <a16:creationId xmlns:a16="http://schemas.microsoft.com/office/drawing/2014/main" id="{01982830-7725-8D88-3457-1C8BB13CC5BF}"/>
              </a:ext>
            </a:extLst>
          </p:cNvPr>
          <p:cNvSpPr txBox="1"/>
          <p:nvPr/>
        </p:nvSpPr>
        <p:spPr>
          <a:xfrm>
            <a:off x="61993" y="1387098"/>
            <a:ext cx="12003438" cy="4062651"/>
          </a:xfrm>
          <a:prstGeom prst="rect">
            <a:avLst/>
          </a:prstGeom>
          <a:noFill/>
        </p:spPr>
        <p:txBody>
          <a:bodyPr wrap="square" rtlCol="0">
            <a:spAutoFit/>
          </a:bodyPr>
          <a:lstStyle/>
          <a:p>
            <a:pPr>
              <a:buNone/>
            </a:pPr>
            <a:r>
              <a:rPr lang="en-US" sz="2000" dirty="0"/>
              <a:t>The developed Power BI dashboard successfully analyzes road accident data and presents the insights through interactive visualizations.</a:t>
            </a:r>
          </a:p>
          <a:p>
            <a:pPr>
              <a:buNone/>
            </a:pPr>
            <a:endParaRPr lang="en-US" sz="2000" dirty="0"/>
          </a:p>
          <a:p>
            <a:pPr>
              <a:buNone/>
            </a:pPr>
            <a:r>
              <a:rPr lang="en-US" sz="2000" dirty="0"/>
              <a:t>The dashboard displays important information such as:</a:t>
            </a:r>
          </a:p>
          <a:p>
            <a:pPr>
              <a:buNone/>
            </a:pPr>
            <a:r>
              <a:rPr lang="en-US" sz="2000" dirty="0"/>
              <a:t>• Total number of accidents</a:t>
            </a:r>
            <a:br>
              <a:rPr lang="en-US" sz="2000" dirty="0"/>
            </a:br>
            <a:r>
              <a:rPr lang="en-US" sz="2000" dirty="0"/>
              <a:t>• Accident severity distribution</a:t>
            </a:r>
            <a:br>
              <a:rPr lang="en-US" sz="2000" dirty="0"/>
            </a:br>
            <a:r>
              <a:rPr lang="en-US" sz="2000" dirty="0"/>
              <a:t>• Accidents by vehicle type</a:t>
            </a:r>
            <a:br>
              <a:rPr lang="en-US" sz="2000" dirty="0"/>
            </a:br>
            <a:r>
              <a:rPr lang="en-US" sz="2000" dirty="0"/>
              <a:t>• Accidents by location</a:t>
            </a:r>
            <a:br>
              <a:rPr lang="en-US" sz="2000" dirty="0"/>
            </a:br>
            <a:r>
              <a:rPr lang="en-US" sz="2000" dirty="0"/>
              <a:t>• Monthly accident trends</a:t>
            </a:r>
          </a:p>
          <a:p>
            <a:pPr>
              <a:buNone/>
            </a:pPr>
            <a:endParaRPr lang="en-US" sz="2000" dirty="0"/>
          </a:p>
          <a:p>
            <a:pPr>
              <a:buNone/>
            </a:pPr>
            <a:r>
              <a:rPr lang="en-US" sz="2000" dirty="0"/>
              <a:t>The visualizations help users easily understand accident patterns and identify high-risk areas. Interactive filters and charts allow users to explore the dataset and gain meaningful insights for improving road safety.</a:t>
            </a:r>
          </a:p>
          <a:p>
            <a:endParaRPr lang="en-IN" dirty="0"/>
          </a:p>
        </p:txBody>
      </p:sp>
    </p:spTree>
    <p:extLst>
      <p:ext uri="{BB962C8B-B14F-4D97-AF65-F5344CB8AC3E}">
        <p14:creationId xmlns:p14="http://schemas.microsoft.com/office/powerpoint/2010/main" val="156612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000" dirty="0"/>
              <a:t>The Road Accident Data Analysis project demonstrates how data analytics and visualization tools can be used to analyze large accident datasets and extract meaningful insights.</a:t>
            </a:r>
          </a:p>
          <a:p>
            <a:r>
              <a:rPr lang="en-US" sz="2000" dirty="0"/>
              <a:t>By using </a:t>
            </a:r>
            <a:r>
              <a:rPr lang="en-US" sz="2000" b="1" dirty="0"/>
              <a:t>Power BI</a:t>
            </a:r>
            <a:r>
              <a:rPr lang="en-US" sz="2000" dirty="0"/>
              <a:t>, the raw accident data is transformed into interactive dashboards that clearly show accident trends, severity levels, and vehicle involvement. These visualizations make it easier to understand accident patterns and identify high-risk areas.</a:t>
            </a:r>
          </a:p>
          <a:p>
            <a:r>
              <a:rPr lang="en-US" sz="2000" dirty="0"/>
              <a:t>The project highlights the importance of data-driven decision making in improving road safety. With the help of such dashboards, authorities and decision makers can analyze accident data efficiently and take preventive measures to reduce accidents in the future.</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0" y="1304433"/>
            <a:ext cx="11541637" cy="5437329"/>
          </a:xfrm>
        </p:spPr>
        <p:txBody>
          <a:bodyPr vert="horz" lIns="91440" tIns="45720" rIns="91440" bIns="45720" rtlCol="0">
            <a:normAutofit/>
          </a:bodyPr>
          <a:lstStyle/>
          <a:p>
            <a:pPr marL="0" indent="0" algn="just">
              <a:buNone/>
            </a:pPr>
            <a:r>
              <a:rPr lang="en-US" sz="2000" dirty="0"/>
              <a:t>The current project focuses on analyzing historical road accident data using Power BI dashboards. In the future, the system can be enhanced with more advanced technologies and data sources to improve road safety analysis.</a:t>
            </a:r>
          </a:p>
          <a:p>
            <a:pPr>
              <a:buNone/>
            </a:pPr>
            <a:r>
              <a:rPr lang="en-US" sz="2000" b="1" dirty="0"/>
              <a:t>Possible future improvements include:</a:t>
            </a:r>
            <a:endParaRPr lang="en-US" sz="2000" dirty="0"/>
          </a:p>
          <a:p>
            <a:pPr>
              <a:buNone/>
            </a:pPr>
            <a:r>
              <a:rPr lang="en-US" sz="2000" dirty="0"/>
              <a:t>• </a:t>
            </a:r>
            <a:r>
              <a:rPr lang="en-US" sz="2000" b="1" dirty="0"/>
              <a:t>Real-Time Data Integration</a:t>
            </a:r>
            <a:r>
              <a:rPr lang="en-US" sz="2000" dirty="0"/>
              <a:t> – Integrating real-time traffic and accident data to monitor accidents instantly.</a:t>
            </a:r>
          </a:p>
          <a:p>
            <a:pPr>
              <a:buNone/>
            </a:pPr>
            <a:r>
              <a:rPr lang="en-US" sz="2000" dirty="0"/>
              <a:t>• </a:t>
            </a:r>
            <a:r>
              <a:rPr lang="en-US" sz="2000" b="1" dirty="0"/>
              <a:t>Predictive Analytics</a:t>
            </a:r>
            <a:r>
              <a:rPr lang="en-US" sz="2000" dirty="0"/>
              <a:t> – Using machine learning models to predict accident-prone areas and high-risk time periods.</a:t>
            </a:r>
          </a:p>
          <a:p>
            <a:pPr>
              <a:buNone/>
            </a:pPr>
            <a:r>
              <a:rPr lang="en-US" sz="2000" dirty="0"/>
              <a:t>• </a:t>
            </a:r>
            <a:r>
              <a:rPr lang="en-US" sz="2000" b="1" dirty="0"/>
              <a:t>GIS Mapping Integration</a:t>
            </a:r>
            <a:r>
              <a:rPr lang="en-US" sz="2000" dirty="0"/>
              <a:t> – Integrating geographic information systems (GIS) to visualize accident locations on maps for better spatial analysis.</a:t>
            </a:r>
          </a:p>
          <a:p>
            <a:pPr>
              <a:buNone/>
            </a:pPr>
            <a:r>
              <a:rPr lang="en-US" sz="2000" dirty="0"/>
              <a:t>• </a:t>
            </a:r>
            <a:r>
              <a:rPr lang="en-US" sz="2000" b="1" dirty="0"/>
              <a:t>Mobile Dashboard Application</a:t>
            </a:r>
            <a:r>
              <a:rPr lang="en-US" sz="2000" dirty="0"/>
              <a:t> – Developing a mobile-friendly dashboard for traffic authorities to monitor accident data anytime.</a:t>
            </a:r>
          </a:p>
          <a:p>
            <a:pPr>
              <a:buNone/>
            </a:pPr>
            <a:r>
              <a:rPr lang="en-US" sz="2000" dirty="0"/>
              <a:t>• </a:t>
            </a:r>
            <a:r>
              <a:rPr lang="en-US" sz="2000" b="1" dirty="0"/>
              <a:t>Smart Traffic Management</a:t>
            </a:r>
            <a:r>
              <a:rPr lang="en-US" sz="2000" dirty="0"/>
              <a:t> – Using accident data insights to support smarter traffic management systems and road safety planning.</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a:buNone/>
            </a:pPr>
            <a:r>
              <a:rPr lang="en-US" sz="2000" dirty="0"/>
              <a:t>The following resources and materials were used for completing this project:</a:t>
            </a:r>
          </a:p>
          <a:p>
            <a:pPr>
              <a:buNone/>
            </a:pPr>
            <a:r>
              <a:rPr lang="en-US" sz="2000" dirty="0"/>
              <a:t>• </a:t>
            </a:r>
            <a:r>
              <a:rPr lang="en-US" sz="2000" b="1" dirty="0"/>
              <a:t>Microsoft Power BI Documentation</a:t>
            </a:r>
            <a:r>
              <a:rPr lang="en-US" sz="2000" dirty="0"/>
              <a:t> – Official Microsoft documentation for learning Power BI features, data modeling, and dashboard creation.</a:t>
            </a:r>
          </a:p>
          <a:p>
            <a:pPr>
              <a:buNone/>
            </a:pPr>
            <a:r>
              <a:rPr lang="en-US" sz="2000" dirty="0"/>
              <a:t>• </a:t>
            </a:r>
            <a:r>
              <a:rPr lang="en-US" sz="2000" b="1" dirty="0"/>
              <a:t>Road Accident Dataset</a:t>
            </a:r>
            <a:r>
              <a:rPr lang="en-US" sz="2000" dirty="0"/>
              <a:t> – Dataset used for analyzing accident patterns, severity levels, and vehicle involvement.</a:t>
            </a:r>
          </a:p>
          <a:p>
            <a:pPr>
              <a:buNone/>
            </a:pPr>
            <a:r>
              <a:rPr lang="en-US" sz="2000" dirty="0"/>
              <a:t>• </a:t>
            </a:r>
            <a:r>
              <a:rPr lang="en-US" sz="2000" b="1" dirty="0"/>
              <a:t>Data Analytics and Visualization Resources</a:t>
            </a:r>
            <a:r>
              <a:rPr lang="en-US" sz="2000" dirty="0"/>
              <a:t> – Online tutorials and learning materials related to data analysis and visualization techniques.</a:t>
            </a:r>
          </a:p>
          <a:p>
            <a:pPr>
              <a:buNone/>
            </a:pPr>
            <a:r>
              <a:rPr lang="en-US" sz="2000" dirty="0"/>
              <a:t>• </a:t>
            </a:r>
            <a:r>
              <a:rPr lang="en-US" sz="2000" b="1" dirty="0"/>
              <a:t>Microsoft Learn Platform</a:t>
            </a:r>
            <a:r>
              <a:rPr lang="en-US" sz="2000" dirty="0"/>
              <a:t> – Learning resources for Power BI and data analytics concepts.</a:t>
            </a:r>
            <a:endParaRPr lang="en-IN" sz="2200" dirty="0">
              <a:latin typeface="Franklin Gothic Book"/>
            </a:endParaRPr>
          </a:p>
          <a:p>
            <a:pPr marL="0" indent="0">
              <a:buNone/>
            </a:pPr>
            <a:r>
              <a:rPr lang="en-IN" sz="2000" b="1" dirty="0"/>
              <a:t>GitHub Link: </a:t>
            </a:r>
            <a:r>
              <a:rPr lang="en-IN" sz="2000" u="sng" dirty="0">
                <a:solidFill>
                  <a:srgbClr val="0070C0"/>
                </a:solidFill>
                <a:latin typeface="Franklin Gothic Book"/>
                <a:hlinkClick r:id="rId2"/>
              </a:rPr>
              <a:t>Link</a:t>
            </a:r>
            <a:endParaRPr lang="en-IN" sz="20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dirty="0">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958</Words>
  <Application>Microsoft Office PowerPoint</Application>
  <PresentationFormat>Widescreen</PresentationFormat>
  <Paragraphs>86</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Development Approach:</vt:lpstr>
      <vt:lpstr>Algorithm &amp; Deployment</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Abhishek Kumar</cp:lastModifiedBy>
  <cp:revision>101</cp:revision>
  <dcterms:created xsi:type="dcterms:W3CDTF">2024-05-21T11:55:07Z</dcterms:created>
  <dcterms:modified xsi:type="dcterms:W3CDTF">2026-03-12T17:36:29Z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